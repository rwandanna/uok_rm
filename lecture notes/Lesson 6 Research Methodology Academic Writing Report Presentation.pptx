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77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240000">
            <a:off x="-1828800" y="5074920"/>
            <a:ext cx="16459200" cy="2926080"/>
          </a:xfrm>
          <a:prstGeom prst="rect">
            <a:avLst/>
          </a:prstGeom>
          <a:solidFill>
            <a:srgbClr val="1D2E5C"/>
          </a:solidFill>
          <a:ln w="12700">
            <a:solidFill>
              <a:srgbClr val="1D2E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40000">
            <a:off x="-1828800" y="5806440"/>
            <a:ext cx="16459200" cy="82296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15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1615" dirty="0"/>
          </a:p>
        </p:txBody>
      </p:sp>
      <p:sp>
        <p:nvSpPr>
          <p:cNvPr id="7" name="Text 5"/>
          <p:cNvSpPr/>
          <p:nvPr/>
        </p:nvSpPr>
        <p:spPr>
          <a:xfrm>
            <a:off x="1783080" y="74980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KIGALI INDEPENDENT UNIVERSITY (ULK)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83080" y="10607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Graduate Studies &amp; Research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Academic Writing &amp;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Report Presentation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822960" y="5166360"/>
            <a:ext cx="210312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303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D7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evidence to argument: writing, structuring, and presenting a credible research report.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OVERVIEW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LESSON ROADMAP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 Will Cover Today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10789920" cy="694944"/>
          </a:xfrm>
          <a:prstGeom prst="roundRect">
            <a:avLst>
              <a:gd name="adj" fmla="val 10526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828800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19019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Foundations of Academic Writing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52160" y="1874520"/>
            <a:ext cx="5349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purpose, and the core characteristics that separate scholarly writing from everyday prose.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670048"/>
            <a:ext cx="10789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67004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37360" y="2743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Style &amp; Language Conventions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52160" y="2715768"/>
            <a:ext cx="5349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tense, tone, hedging, and formality expected in research communication.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511296"/>
            <a:ext cx="10789920" cy="694944"/>
          </a:xfrm>
          <a:prstGeom prst="roundRect">
            <a:avLst>
              <a:gd name="adj" fmla="val 10526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511296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737360" y="3584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Structuring a Research Report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52160" y="3557016"/>
            <a:ext cx="5349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IMRaD framework — from title page and abstract through to references.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352544"/>
            <a:ext cx="107899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352544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737360" y="44256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Citation, Referencing &amp; Integrity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52160" y="4398264"/>
            <a:ext cx="5349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referencing styles and safeguarding your work against plagiarism.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193792"/>
            <a:ext cx="10789920" cy="694944"/>
          </a:xfrm>
          <a:prstGeom prst="roundRect">
            <a:avLst>
              <a:gd name="adj" fmla="val 10526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193792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52669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Presenting the Final Report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52160" y="5239512"/>
            <a:ext cx="5349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standards, visual aids, and oral presentation of findings.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OBJECTIVES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By the End of This Lesson, You Should Be Able To: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1576" y="658066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745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075688"/>
            <a:ext cx="457200" cy="45720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1984248"/>
            <a:ext cx="4297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defining characteristics of formal academic writing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18745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3368" y="2075688"/>
            <a:ext cx="457200" cy="45720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3368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1984248"/>
            <a:ext cx="4297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IMRaD structure to organise a research report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3447288"/>
            <a:ext cx="457200" cy="45720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17320" y="3355848"/>
            <a:ext cx="4297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major citation styles and cite sources correctly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32461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3368" y="3447288"/>
            <a:ext cx="457200" cy="45720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40880" y="3355848"/>
            <a:ext cx="4297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avoid common forms of plagiarism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6177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4818888"/>
            <a:ext cx="457200" cy="45720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17320" y="4727448"/>
            <a:ext cx="4297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 report to institutional and disciplinary standards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72200" y="46177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3368" y="4818888"/>
            <a:ext cx="457200" cy="45720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3368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40880" y="4727448"/>
            <a:ext cx="4297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research findings clearly in written and oral form</a:t>
            </a:r>
            <a:endParaRPr lang="en-US" sz="125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D3EF6580-307D-4085-A6A9-A66D5CB461A9}"/>
              </a:ext>
            </a:extLst>
          </p:cNvPr>
          <p:cNvSpPr/>
          <p:nvPr/>
        </p:nvSpPr>
        <p:spPr>
          <a:xfrm>
            <a:off x="825327" y="659739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WHAT IS ACADEMIC WRITING?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Formal, Evidence-Based Mode of Communication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6126480" cy="4160520"/>
          </a:xfrm>
          <a:prstGeom prst="rect">
            <a:avLst/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1031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writing is the structured, formal style used to communicate research findings, arguments, and ideas within a scholarly community. It prioritises clarity, objectivity, and precision over narrative flair, and every claim is expected to be supported by credible evidence.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3703320"/>
            <a:ext cx="5486400" cy="0"/>
          </a:xfrm>
          <a:prstGeom prst="line">
            <a:avLst/>
          </a:prstGeom>
          <a:noFill/>
          <a:ln w="12700">
            <a:solidFill>
              <a:srgbClr val="E1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Purpose in Research Methodology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2519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a researcher to present a study so that findings are transparent, reproducible, and open to scrutiny by peers, examiners, and the wider academic community.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03720" y="1828800"/>
            <a:ext cx="4434840" cy="1920240"/>
          </a:xfrm>
          <a:prstGeom prst="roundRect">
            <a:avLst>
              <a:gd name="adj" fmla="val 4762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20574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17804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Core Qualities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78040" y="3218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· Objectivity · Precision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03720" y="3977640"/>
            <a:ext cx="4434840" cy="1920240"/>
          </a:xfrm>
          <a:prstGeom prst="roundRect">
            <a:avLst>
              <a:gd name="adj" fmla="val 4762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42062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IMRaD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178040" y="5029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Standard Structure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5367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across disciplines</a:t>
            </a:r>
            <a:endParaRPr lang="en-US" sz="105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7EB41805-D335-4CEA-A047-040790F8FA04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WHAT IS ACADEMIC WRITING?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Six Core Characteristics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7452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77240" y="27432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0815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expressed precisely, with no ambiguity about meaning.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87952" y="187452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16552" y="2103120"/>
            <a:ext cx="502920" cy="50292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416552" y="27432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Objectivity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16552" y="30815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rest on evidence, not personal opinion or bias.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27264" y="187452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55864" y="2103120"/>
            <a:ext cx="502920" cy="50292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5586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055864" y="27432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Formality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055864" y="30815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grammar; no slang, contractions, or colloquialisms.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777240" y="48006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51389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word choice and accurate use of technical terminology.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87952" y="393192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16552" y="4160520"/>
            <a:ext cx="502920" cy="50292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6552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4416552" y="48006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Coherence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416552" y="51389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flow between sentences, paragraphs, and sections.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827264" y="393192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55864" y="4160520"/>
            <a:ext cx="502920" cy="50292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55864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8055864" y="48006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Evidence-based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055864" y="51389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are substantiated with citations and data.</a:t>
            </a:r>
            <a:endParaRPr lang="en-US" sz="105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F532A717-F349-4A8F-B8B9-2CCD2807E6BB}"/>
              </a:ext>
            </a:extLst>
          </p:cNvPr>
          <p:cNvSpPr/>
          <p:nvPr/>
        </p:nvSpPr>
        <p:spPr>
          <a:xfrm>
            <a:off x="676656" y="6546216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WHAT IS ACADEMIC WRITING?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Academic vs. Everyday Writing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57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ACADEMIC WRITING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2606040"/>
            <a:ext cx="128016" cy="128016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tone; third person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264408"/>
            <a:ext cx="128016" cy="128016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1272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supported by cited evidence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3922776"/>
            <a:ext cx="128016" cy="128016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7856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discipline-specific vocabulary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581144"/>
            <a:ext cx="128016" cy="128016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4439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sections (IMRaD)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239512"/>
            <a:ext cx="128016" cy="128016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1023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Hedged, cautious claims ("suggests", "indicates")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18288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057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647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EVERYDAY WRITING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37960" y="2606040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2468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tone; first/second person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37960" y="3264408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31272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Opinions stated without evidence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37960" y="3922776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378561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General, conversational vocabulary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37960" y="4581144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44439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structure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537960" y="5239512"/>
            <a:ext cx="128016" cy="128016"/>
          </a:xfrm>
          <a:prstGeom prst="ellipse">
            <a:avLst/>
          </a:prstGeom>
          <a:solidFill>
            <a:srgbClr val="5B6472"/>
          </a:solidFill>
          <a:ln w="12700">
            <a:solidFill>
              <a:srgbClr val="5B64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51023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claims ("proves", "always")</a:t>
            </a:r>
            <a:endParaRPr lang="en-US" sz="115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35685167-31F1-46E7-A902-7DF128F1DF30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STYLE &amp; LANGUAGE CONVENTIONS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Voice, Tense &amp; Tone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10789920" cy="896112"/>
          </a:xfrm>
          <a:prstGeom prst="roundRect">
            <a:avLst>
              <a:gd name="adj" fmla="val 8163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1984248"/>
            <a:ext cx="585216" cy="585216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9842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6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36" dirty="0"/>
          </a:p>
        </p:txBody>
      </p:sp>
      <p:sp>
        <p:nvSpPr>
          <p:cNvPr id="17" name="Text 15"/>
          <p:cNvSpPr/>
          <p:nvPr/>
        </p:nvSpPr>
        <p:spPr>
          <a:xfrm>
            <a:off x="1600200" y="190195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Third-person, passive voice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03520" y="1883664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samples were analysed" rather than "I analysed the samples", except where a discipline permits first person.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852928"/>
            <a:ext cx="10789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008376"/>
            <a:ext cx="585216" cy="585216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0083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6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36" dirty="0"/>
          </a:p>
        </p:txBody>
      </p:sp>
      <p:sp>
        <p:nvSpPr>
          <p:cNvPr id="22" name="Text 20"/>
          <p:cNvSpPr/>
          <p:nvPr/>
        </p:nvSpPr>
        <p:spPr>
          <a:xfrm>
            <a:off x="1600200" y="292608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Past tense for methods &amp; results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03520" y="2907792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was done and found using past tense; use present tense for established facts and conclusions.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77056"/>
            <a:ext cx="10789920" cy="896112"/>
          </a:xfrm>
          <a:prstGeom prst="roundRect">
            <a:avLst>
              <a:gd name="adj" fmla="val 8163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032504"/>
            <a:ext cx="585216" cy="585216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0325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6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36" dirty="0"/>
          </a:p>
        </p:txBody>
      </p:sp>
      <p:sp>
        <p:nvSpPr>
          <p:cNvPr id="27" name="Text 25"/>
          <p:cNvSpPr/>
          <p:nvPr/>
        </p:nvSpPr>
        <p:spPr>
          <a:xfrm>
            <a:off x="1600200" y="395020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Hedging language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303520" y="3931920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cautious verbs — "suggests", "indicates", "appears to" — rather than overstating certainty.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901184"/>
            <a:ext cx="10789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056632"/>
            <a:ext cx="585216" cy="585216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056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6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36" dirty="0"/>
          </a:p>
        </p:txBody>
      </p:sp>
      <p:sp>
        <p:nvSpPr>
          <p:cNvPr id="32" name="Text 30"/>
          <p:cNvSpPr/>
          <p:nvPr/>
        </p:nvSpPr>
        <p:spPr>
          <a:xfrm>
            <a:off x="1600200" y="497433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contractions or colloquialisms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03520" y="4956048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"don't", "can't", slang, or idioms; write out full forms and use formal vocabulary.</a:t>
            </a:r>
            <a:endParaRPr lang="en-US" sz="105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258CC11E-7198-41FD-8546-5A064FEDBD4B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1828800" y="4206240"/>
            <a:ext cx="16459200" cy="3657600"/>
          </a:xfrm>
          <a:prstGeom prst="rect">
            <a:avLst/>
          </a:prstGeom>
          <a:solidFill>
            <a:srgbClr val="1D2E5C"/>
          </a:solidFill>
          <a:ln w="12700">
            <a:solidFill>
              <a:srgbClr val="1D2E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40080"/>
            <a:ext cx="502920" cy="5029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5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1045" dirty="0"/>
          </a:p>
        </p:txBody>
      </p:sp>
      <p:sp>
        <p:nvSpPr>
          <p:cNvPr id="5" name="Text 3"/>
          <p:cNvSpPr/>
          <p:nvPr/>
        </p:nvSpPr>
        <p:spPr>
          <a:xfrm>
            <a:off x="14630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EBB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  ·  LESSON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D2E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Structuring a Research Report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10312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D7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raw findings to a coherent, professionally organised document that a reader can navigate with confidence.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STRUCTURING A RESEARCH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IMRaD Framework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231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844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6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objectives, questions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23160" y="2971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520440" y="228600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4231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520440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Methods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611880" y="35844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6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sample, procedure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94960" y="2971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492240" y="228600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4231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6492240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Results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83680" y="35844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6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data, tables/figures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66760" y="29718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464040" y="228600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64040" y="24231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9464040" y="32004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555480" y="358444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C6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Interpretation, implications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709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disciplines also require a Title Page, Abstract, and Reference List surrounding this core structure.</a:t>
            </a:r>
            <a:endParaRPr lang="en-US" sz="115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17876A6D-3093-4580-A958-04370B03A1DA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STRUCTURING A RESEARCH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Title Page &amp; Abstract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57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TITLE PAGE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2606040"/>
            <a:ext cx="109728" cy="109728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247802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Concise, informative title reflecting the study's scope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246120"/>
            <a:ext cx="109728" cy="109728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11810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name(s) and institutional affiliation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7581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Supervisor's name (where applicable)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526280"/>
            <a:ext cx="109728" cy="109728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43982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faculty, and university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166360"/>
            <a:ext cx="109728" cy="109728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50383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submission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18288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057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ABSTRACT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37960" y="25146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summary — typically 150–300 words — that states the problem, purpose, methods, key findings, and conclusion so a reader can grasp the study without reading further.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4023360"/>
            <a:ext cx="4800600" cy="0"/>
          </a:xfrm>
          <a:prstGeom prst="line">
            <a:avLst/>
          </a:prstGeom>
          <a:noFill/>
          <a:ln w="12700">
            <a:solidFill>
              <a:srgbClr val="3A4E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420624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written LAST, after the full report is complete — even though it appears first.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502920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3–5 keywords for indexing and discoverability.</a:t>
            </a:r>
            <a:endParaRPr lang="en-US" sz="105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DC097DD1-8E16-4038-A1CA-071AF621D8DF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STRUCTURING A RESEARCH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Introduction — Setting Up the Problem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288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2606040" y="1828800"/>
            <a:ext cx="8732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research problem, situates it within existing knowledge, and states why the study matters.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and context of the problem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the research problem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457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and/or questions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029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and scope of the study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6601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outline of the report structure</a:t>
            </a:r>
            <a:endParaRPr lang="en-US" sz="12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0F4092EA-1123-45CC-B5B5-0AB7DD09C8DB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STRUCTURING A RESEARCH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Literature Review — Positioning the Study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288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2606040" y="1828800"/>
            <a:ext cx="8732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 synthesises existing scholarship to identify what is known, what is contested, and what gap the study addresses.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 or chronological synthesis of prior work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methodologies and findings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457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the research gap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029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or conceptual framework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6601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list — an argument built from sources</a:t>
            </a:r>
            <a:endParaRPr lang="en-US" sz="12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5178CA69-66A5-470C-92B3-88659C68A9CF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STRUCTURING A RESEARCH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Methodology — Explaining How the Study Was Done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288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2606040" y="1828800"/>
            <a:ext cx="8732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enough detail for another researcher to replicate the study, and justifies each methodological choice.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 and approach (qualitative/quantitative/mixed)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Population, sample, and sampling technique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457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instruments and procedures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029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methods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6601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considerations and limitations of method</a:t>
            </a:r>
            <a:endParaRPr lang="en-US" sz="12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4B96BC0B-AECD-44AA-9FE0-2A03EB7A7D63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STRUCTURING A RESEARCH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Results — Reporting What Was Found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288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2606040" y="1828800"/>
            <a:ext cx="8732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Presents findings objectively and factually — without interpretation, which is reserved for the Discussion.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organised around research questions/objectives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figures with clear titles and labels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457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and/or inferential statistics as appropriate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029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text highlighting key patterns, not raw data dumps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6601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opinion, explanation, or comparison to literature yet</a:t>
            </a:r>
            <a:endParaRPr lang="en-US" sz="12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B0F5E896-AE0C-45E5-B018-11FF9B1FA932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STRUCTURING A RESEARCH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Discussion &amp; Conclusion — Interpreting and Concluding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288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2606040" y="1828800"/>
            <a:ext cx="8732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Interprets results in light of the literature, acknowledges limitations, and states the study's contribution.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8313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of findings relative to research questions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prior studies from the literature review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7457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and practical implications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029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study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5660136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and recommendations for future research</a:t>
            </a:r>
            <a:endParaRPr lang="en-US" sz="12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81850C22-F3D8-49B3-A9B0-023FC4E19381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STRUCTURING A RESEARCH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References &amp; Appendices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848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Reference List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2697480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4688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in-text citation must appear here, and vice versa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657600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4290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consistently in one referencing style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617720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3891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Alphabetised by author surname (most styles)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18288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0848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Appendices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46520" y="2697480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24688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material: questionnaires, raw data, consent forms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46520" y="3657600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34290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(Appendix A, B, C…) and referenced in the body text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46520" y="4617720"/>
            <a:ext cx="118872" cy="118872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43891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separate so the main report stays focused and readable</a:t>
            </a:r>
            <a:endParaRPr lang="en-US" sz="115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5F769BD6-FB46-413C-BAAC-0260F687BAFC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1828800" y="4206240"/>
            <a:ext cx="16459200" cy="3657600"/>
          </a:xfrm>
          <a:prstGeom prst="rect">
            <a:avLst/>
          </a:prstGeom>
          <a:solidFill>
            <a:srgbClr val="1D2E5C"/>
          </a:solidFill>
          <a:ln w="12700">
            <a:solidFill>
              <a:srgbClr val="1D2E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40080"/>
            <a:ext cx="502920" cy="5029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5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1045" dirty="0"/>
          </a:p>
        </p:txBody>
      </p:sp>
      <p:sp>
        <p:nvSpPr>
          <p:cNvPr id="5" name="Text 3"/>
          <p:cNvSpPr/>
          <p:nvPr/>
        </p:nvSpPr>
        <p:spPr>
          <a:xfrm>
            <a:off x="14630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EBB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  ·  LESSON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D2E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Citation, Referencing &amp; Integrity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10312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D7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credit accurately is what separates rigorous scholarship from misconduct — and it protects your own credibility.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CITATION &amp; REFERENCING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Common Referencing Styles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10312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103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2743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American Psychological Association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31272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in: Social sciences, education, business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18288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210312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103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MLA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46520" y="2743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Modern Language Association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31272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in: Humanities, literature, languages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2976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297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Chicago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937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Chicago Manual of Style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53218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in: History, some social sciences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42976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297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IEEE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46520" y="4937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Institute of Electrical &amp; Electronics Engineers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46520" y="53218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in: Engineering, computer science, IT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UOK guidance: confirm the required style with your supervisor or department — consistency matters more than which style is chosen.</a:t>
            </a:r>
            <a:endParaRPr lang="en-US" sz="105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DE388588-B75E-4E17-9C66-C9CB9F3F6378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CITATION &amp; REFERENCING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Avoiding Plagiarism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20299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Direct copying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2395728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another author's exact words without quotation marks and citation.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18288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057400"/>
            <a:ext cx="457200" cy="45720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20299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Poor paraphrasing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2395728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few words while keeping the original sentence structure — still plagiarism.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17320" y="40873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Missing citations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453128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someone else's idea or data as if it were your own original thought.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72200" y="388620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114800"/>
            <a:ext cx="457200" cy="45720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0" y="40873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Self-plagiarism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4453128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Resubmitting your own previously graded or published work without disclosure.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Golden rule: when in doubt, cite it. It costs a sentence — plagiarism can cost a degree.</a:t>
            </a:r>
            <a:endParaRPr lang="en-US" sz="12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F35891A1-26CB-426D-A693-C8399F3D6B11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1828800" y="4206240"/>
            <a:ext cx="16459200" cy="3657600"/>
          </a:xfrm>
          <a:prstGeom prst="rect">
            <a:avLst/>
          </a:prstGeom>
          <a:solidFill>
            <a:srgbClr val="1D2E5C"/>
          </a:solidFill>
          <a:ln w="12700">
            <a:solidFill>
              <a:srgbClr val="1D2E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640080"/>
            <a:ext cx="502920" cy="5029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5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1045" dirty="0"/>
          </a:p>
        </p:txBody>
      </p:sp>
      <p:sp>
        <p:nvSpPr>
          <p:cNvPr id="5" name="Text 3"/>
          <p:cNvSpPr/>
          <p:nvPr/>
        </p:nvSpPr>
        <p:spPr>
          <a:xfrm>
            <a:off x="14630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EBBD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  ·  LESSON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b="1" dirty="0">
                <a:solidFill>
                  <a:srgbClr val="1D2E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Presenting the Final Report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103120" cy="0"/>
          </a:xfrm>
          <a:prstGeom prst="line">
            <a:avLst/>
          </a:prstGeom>
          <a:noFill/>
          <a:ln w="31750">
            <a:solidFill>
              <a:srgbClr val="F2B70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D7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well-argued study can still lose its audience if it is poorly formatted, cluttered, or badly delivered. Presentation is part of the argument.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 PRESENTING THE FINAL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Formatting Standards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7452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77240" y="27432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Font &amp; Spacing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0815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 New Roman/Calibri 12pt; double or 1.5 line spacing; consistent margins (~2.5cm)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87952" y="187452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16552" y="2103120"/>
            <a:ext cx="502920" cy="50292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416552" y="27432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Headings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16552" y="30815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Numbered, hierarchical headings (1, 1.1, 1.1.1) styled consistently throughout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827264" y="187452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55864" y="2103120"/>
            <a:ext cx="502920" cy="50292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55864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055864" y="27432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Pagination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55864" y="30815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numbers on every page; preliminary pages often use roman numerals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¶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777240" y="48006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Paragraphing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51389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 per paragraph; clear topic sentences; smooth transitions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87952" y="393192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16552" y="4160520"/>
            <a:ext cx="502920" cy="50292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16552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4416552" y="48006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Tables &amp; Figures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416552" y="51389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sequentially, titled, and referenced in the surrounding text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827264" y="3931920"/>
            <a:ext cx="350215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76200" dist="25400" dir="5400000" algn="bl" rotWithShape="0">
              <a:srgbClr val="9AA5C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55864" y="4160520"/>
            <a:ext cx="502920" cy="502920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55864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⎘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8055864" y="4800600"/>
            <a:ext cx="3044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055864" y="5138928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referencing style, one heading style, one numbering scheme — throughout</a:t>
            </a:r>
            <a:endParaRPr lang="en-US" sz="95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D9088169-7DB4-46D7-B220-AC323CE75792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 PRESENTING THE FINAL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Using Tables, Figures &amp; Visual Aids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4F7FC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57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GOOD PRACTICE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2606040"/>
            <a:ext cx="109728" cy="109728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24414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table/figure has a number and descriptive title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3383280"/>
            <a:ext cx="109728" cy="109728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32186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Referred to by number in the text before it appears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2960" y="4160520"/>
            <a:ext cx="109728" cy="109728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399592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cited beneath borrowed or adapted visuals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4937760"/>
            <a:ext cx="109728" cy="109728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47731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clarify data, not decorate the page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182880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057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EXAMPLE: TABLE TITLE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2514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7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3.1: Distribution of Respondents by District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77824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8408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37960" y="3383280"/>
            <a:ext cx="4434840" cy="0"/>
          </a:xfrm>
          <a:prstGeom prst="line">
            <a:avLst/>
          </a:prstGeom>
          <a:noFill/>
          <a:ln w="9525">
            <a:solidFill>
              <a:srgbClr val="3A4E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Gasabo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77824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78408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537960" y="3794760"/>
            <a:ext cx="4434840" cy="0"/>
          </a:xfrm>
          <a:prstGeom prst="line">
            <a:avLst/>
          </a:prstGeom>
          <a:noFill/>
          <a:ln w="9525">
            <a:solidFill>
              <a:srgbClr val="3A4E8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Kicukiro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77824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78408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37960" y="4206240"/>
            <a:ext cx="4434840" cy="0"/>
          </a:xfrm>
          <a:prstGeom prst="line">
            <a:avLst/>
          </a:prstGeom>
          <a:noFill/>
          <a:ln w="9525">
            <a:solidFill>
              <a:srgbClr val="3A4E8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Nyarugenge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778240" y="4251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784080" y="4251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537960" y="4617720"/>
            <a:ext cx="4434840" cy="0"/>
          </a:xfrm>
          <a:prstGeom prst="line">
            <a:avLst/>
          </a:prstGeom>
          <a:noFill/>
          <a:ln w="9525">
            <a:solidFill>
              <a:srgbClr val="3A4E8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48006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Field survey data, 2026.</a:t>
            </a:r>
            <a:endParaRPr lang="en-US" sz="90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9438E33B-6753-4E0A-BC66-CB5D8BE84E51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PRESENTATION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 PRESENTING THE FINAL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Oral Presentation of Findings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10789920" cy="896112"/>
          </a:xfrm>
          <a:prstGeom prst="roundRect">
            <a:avLst>
              <a:gd name="adj" fmla="val 8163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1984248"/>
            <a:ext cx="585216" cy="585216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98424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6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36" dirty="0"/>
          </a:p>
        </p:txBody>
      </p:sp>
      <p:sp>
        <p:nvSpPr>
          <p:cNvPr id="17" name="Text 15"/>
          <p:cNvSpPr/>
          <p:nvPr/>
        </p:nvSpPr>
        <p:spPr>
          <a:xfrm>
            <a:off x="1600200" y="190195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Structure your talk like the report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94960" y="1883664"/>
            <a:ext cx="5806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with the problem, move through method and key findings, close with implications.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852928"/>
            <a:ext cx="10789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008376"/>
            <a:ext cx="585216" cy="585216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00837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6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36" dirty="0"/>
          </a:p>
        </p:txBody>
      </p:sp>
      <p:sp>
        <p:nvSpPr>
          <p:cNvPr id="22" name="Text 20"/>
          <p:cNvSpPr/>
          <p:nvPr/>
        </p:nvSpPr>
        <p:spPr>
          <a:xfrm>
            <a:off x="1600200" y="29260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Design slides to support, not repeat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94960" y="2907792"/>
            <a:ext cx="5806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visuals, short phrases, and data — not dense paragraphs read aloud.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77056"/>
            <a:ext cx="10789920" cy="896112"/>
          </a:xfrm>
          <a:prstGeom prst="roundRect">
            <a:avLst>
              <a:gd name="adj" fmla="val 8163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032504"/>
            <a:ext cx="585216" cy="585216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0325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6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36" dirty="0"/>
          </a:p>
        </p:txBody>
      </p:sp>
      <p:sp>
        <p:nvSpPr>
          <p:cNvPr id="27" name="Text 25"/>
          <p:cNvSpPr/>
          <p:nvPr/>
        </p:nvSpPr>
        <p:spPr>
          <a:xfrm>
            <a:off x="1600200" y="395020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Rehearse timing and transitions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394960" y="3931920"/>
            <a:ext cx="5806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aloud against the time limit; plan clear hand-offs between sections.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901184"/>
            <a:ext cx="10789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056632"/>
            <a:ext cx="585216" cy="585216"/>
          </a:xfrm>
          <a:prstGeom prst="ellipse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056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6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36" dirty="0"/>
          </a:p>
        </p:txBody>
      </p:sp>
      <p:sp>
        <p:nvSpPr>
          <p:cNvPr id="32" name="Text 30"/>
          <p:cNvSpPr/>
          <p:nvPr/>
        </p:nvSpPr>
        <p:spPr>
          <a:xfrm>
            <a:off x="1600200" y="497433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Prepare for questions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94960" y="4956048"/>
            <a:ext cx="5806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 likely challenges to your methodology or interpretation; answer directly and honestly.</a:t>
            </a:r>
            <a:endParaRPr lang="en-US" sz="105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CF9AFE83-2288-4FB2-B063-AC1A799CA4D8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BEFORE YOU SUBMIT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Common Pitfalls — A Final Checklist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8288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0802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0802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1901952"/>
            <a:ext cx="4434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in-text citation matches an entry in the reference list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82880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20802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0802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58000" y="1901952"/>
            <a:ext cx="4434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informal language, contractions, or first-person overuse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28803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1318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2953512"/>
            <a:ext cx="4434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numbered consistently; page numbers present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288036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5080" y="31318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1318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0" y="2953512"/>
            <a:ext cx="4434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Tables/figures numbered, titled, and referenced in text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39319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" y="41833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183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34440" y="4005072"/>
            <a:ext cx="4434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accurately reflects the final content of the report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39319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4F7FC"/>
          </a:solidFill>
          <a:ln w="9525">
            <a:solidFill>
              <a:srgbClr val="E1E6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41833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1833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58000" y="4005072"/>
            <a:ext cx="4434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proofread for grammar, spelling, and consistency</a:t>
            </a:r>
            <a:endParaRPr lang="en-US" sz="1150" dirty="0"/>
          </a:p>
        </p:txBody>
      </p:sp>
      <p:sp>
        <p:nvSpPr>
          <p:cNvPr id="38" name="Text 10">
            <a:extLst>
              <a:ext uri="{FF2B5EF4-FFF2-40B4-BE49-F238E27FC236}">
                <a16:creationId xmlns:a16="http://schemas.microsoft.com/office/drawing/2014/main" id="{1BEC177C-1687-494A-B019-ACEF2A76AEC8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4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1828800" y="-914400"/>
            <a:ext cx="16459200" cy="2377440"/>
          </a:xfrm>
          <a:prstGeom prst="rect">
            <a:avLst/>
          </a:prstGeom>
          <a:solidFill>
            <a:srgbClr val="1D2E5C"/>
          </a:solidFill>
          <a:ln w="12700">
            <a:solidFill>
              <a:srgbClr val="1D2E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548640"/>
            <a:ext cx="502920" cy="50292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5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1045" dirty="0"/>
          </a:p>
        </p:txBody>
      </p:sp>
      <p:sp>
        <p:nvSpPr>
          <p:cNvPr id="5" name="Text 3"/>
          <p:cNvSpPr/>
          <p:nvPr/>
        </p:nvSpPr>
        <p:spPr>
          <a:xfrm>
            <a:off x="128016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B70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Academic Writing &amp; Report Presentation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0756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writing is formal, objective, precise, and evidence-based.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4436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IMRaD structure organises a research report from problem to conclusion.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81304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accurate citation protects both scholarship and your credibility.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6817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formatting and confident presentation complete a credible report.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989320"/>
            <a:ext cx="2103120" cy="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Data Analysis &amp; Interpretation of Findings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30352"/>
          </a:xfrm>
          <a:prstGeom prst="rect">
            <a:avLst/>
          </a:prstGeom>
          <a:solidFill>
            <a:srgbClr val="16244A"/>
          </a:solidFill>
          <a:ln w="12700">
            <a:solidFill>
              <a:srgbClr val="1624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82296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8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ULK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676656" y="4114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6656" y="26060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40" dirty="0">
                <a:solidFill>
                  <a:srgbClr val="AEB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6  ·  ACADEMIC WRITING &amp; REPORT PRESENTATION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0881360" y="91440"/>
            <a:ext cx="1097280" cy="347472"/>
          </a:xfrm>
          <a:prstGeom prst="roundRect">
            <a:avLst>
              <a:gd name="adj" fmla="val 15789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0" y="91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7863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A5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FURTHER READING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097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Recommended Sources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91440" cy="91440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2024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Psychological Association. (2020). Publication Manual of the American Psychological Association (7th ed.). APA.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706624"/>
            <a:ext cx="91440" cy="91440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63347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Bryman, A. (2016). Social Research Methods (5th ed.). Oxford University Press.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3419856"/>
            <a:ext cx="91440" cy="91440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346704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Creswell, J. W., &amp; Creswell, J. D. (2018). Research Design: Qualitative, Quantitative, and Mixed Methods Approaches (5th ed.). SAGE.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4133088"/>
            <a:ext cx="91440" cy="91440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05993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Hofmann, A. H. (2020). Scientific Writing and Communication: Papers, Proposals, and Presentations (3rd ed.). Oxford University Press.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4846320"/>
            <a:ext cx="91440" cy="91440"/>
          </a:xfrm>
          <a:prstGeom prst="ellipse">
            <a:avLst/>
          </a:prstGeom>
          <a:solidFill>
            <a:srgbClr val="C9960A"/>
          </a:solidFill>
          <a:ln w="12700">
            <a:solidFill>
              <a:srgbClr val="C99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773168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Kombo, D. K., &amp; Tromp, D. L. A. (2006). Proposal and Thesis Writing: An Introduction. Paulines Publications Africa.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492240"/>
            <a:ext cx="11091672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75720" y="64739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4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</a:t>
            </a:r>
            <a:endParaRPr lang="en-US" sz="11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B4E05719-2C9A-41ED-BE4C-2F8A8C3E1B5E}"/>
              </a:ext>
            </a:extLst>
          </p:cNvPr>
          <p:cNvSpPr/>
          <p:nvPr/>
        </p:nvSpPr>
        <p:spPr>
          <a:xfrm>
            <a:off x="54864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KIGALI UOK|  RESEARCH METHODOLOGY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2403</Words>
  <Application>Microsoft Office PowerPoint</Application>
  <PresentationFormat>Widescreen</PresentationFormat>
  <Paragraphs>469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bosulus</cp:lastModifiedBy>
  <cp:revision>2</cp:revision>
  <dcterms:created xsi:type="dcterms:W3CDTF">2026-08-01T08:27:29Z</dcterms:created>
  <dcterms:modified xsi:type="dcterms:W3CDTF">2026-08-01T19:24:21Z</dcterms:modified>
</cp:coreProperties>
</file>